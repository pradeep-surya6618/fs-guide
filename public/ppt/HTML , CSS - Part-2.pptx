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5486400" cy="5486400"/>
          </a:xfrm>
          <a:prstGeom prst="ellipse">
            <a:avLst/>
          </a:prstGeom>
          <a:solidFill>
            <a:srgbClr val="151B47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2926080"/>
            <a:ext cx="2286000" cy="2286000"/>
          </a:xfrm>
          <a:prstGeom prst="ellipse">
            <a:avLst/>
          </a:prstGeom>
          <a:solidFill>
            <a:srgbClr val="E63946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182880" cy="18288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38404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HTML + CSS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371600" cy="13716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801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D2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2011680" y="12801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Forms + CSS Foundations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011680" y="1965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real profile card, from design to working code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011680" y="23774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· Tables · Forms · CSS · Box Model · Flexbox · Grid · Position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6576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hrs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57200" y="4206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time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68880" y="36576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468880" y="4206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concepts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80560" y="36576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480560" y="4206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card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36576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492240" y="4206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15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OWN BY 2 PM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Today's Mission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691640"/>
            <a:ext cx="548640" cy="5486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1645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Master more HTML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0574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Lists, tables, forms, and every common input type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92040" y="1691640"/>
            <a:ext cx="548640" cy="5486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577840" y="1645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Speak CSS fluently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77840" y="20574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Selectors, box model, colors, typography, and units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5800" y="3200400"/>
            <a:ext cx="548640" cy="5486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371600" y="3154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 out anything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35661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Position, Flexbox, and Grid — the three layout tools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663440" y="297180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3200400"/>
            <a:ext cx="548640" cy="5486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577840" y="3154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a profile card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577840" y="35661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design and turn it into clean working code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HTML Forms + CSS Foundations · Phase 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These 2 Hours Will Flow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463040" cy="411480"/>
          </a:xfrm>
          <a:prstGeom prst="roundRect">
            <a:avLst>
              <a:gd name="adj" fmla="val 13333"/>
            </a:avLst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544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 – 0:25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103120" y="15544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566160" y="15544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HTML: Lists, Tables, Forms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121408"/>
            <a:ext cx="1463040" cy="411480"/>
          </a:xfrm>
          <a:prstGeom prst="roundRect">
            <a:avLst>
              <a:gd name="adj" fmla="val 13333"/>
            </a:avLst>
          </a:prstGeom>
          <a:solidFill>
            <a:srgbClr val="2A9D8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12140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0:25 – 0:50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103120" y="212140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66160" y="212140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CSS Foundations + Box Model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688336"/>
            <a:ext cx="1463040" cy="411480"/>
          </a:xfrm>
          <a:prstGeom prst="roundRect">
            <a:avLst>
              <a:gd name="adj" fmla="val 13333"/>
            </a:avLst>
          </a:prstGeom>
          <a:solidFill>
            <a:srgbClr val="06AED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688336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0:50 – 1:15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103120" y="268833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6A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66160" y="268833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Layout: Position, Flexbox, Grid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255264"/>
            <a:ext cx="1463040" cy="411480"/>
          </a:xfrm>
          <a:prstGeom prst="roundRect">
            <a:avLst>
              <a:gd name="adj" fmla="val 13333"/>
            </a:avLst>
          </a:prstGeom>
          <a:solidFill>
            <a:srgbClr val="8338EC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255264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1:15 – 1:50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103120" y="325526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66160" y="3255264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Profile Card: Design to Code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822192"/>
            <a:ext cx="1463040" cy="41148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82219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1:50 – 2:00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103120" y="382219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566160" y="382219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Q&amp;A + Homework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HTML Forms + CSS Foundations · Phase 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457200"/>
            <a:ext cx="4754880" cy="4754880"/>
          </a:xfrm>
          <a:prstGeom prst="ellipse">
            <a:avLst/>
          </a:prstGeom>
          <a:solidFill>
            <a:srgbClr val="151B47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0" y="1188720"/>
            <a:ext cx="2377440" cy="23774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6492240" y="118872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64592" cy="164592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8412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HTML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organize info. Tables present data. Forms let users send data back. These are the building blocks behind every signup, dashboard, and checkout page.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 · OL · DL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Lists — Three Flavors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5176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2651760" cy="7315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Unordered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&lt;ul&gt;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Bulleted list. Order doesn't matter.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2560320"/>
            <a:ext cx="2377440" cy="141732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1" name="Shape 9"/>
          <p:cNvSpPr/>
          <p:nvPr/>
        </p:nvSpPr>
        <p:spPr>
          <a:xfrm>
            <a:off x="704088" y="267919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2" name="Shape 10"/>
          <p:cNvSpPr/>
          <p:nvPr/>
        </p:nvSpPr>
        <p:spPr>
          <a:xfrm>
            <a:off x="868680" y="267919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3" name="Shape 11"/>
          <p:cNvSpPr/>
          <p:nvPr/>
        </p:nvSpPr>
        <p:spPr>
          <a:xfrm>
            <a:off x="1033272" y="267919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97180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ul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Coffee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ul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40233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AS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4251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Coffee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46120" y="1417320"/>
            <a:ext cx="265176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46120" y="1417320"/>
            <a:ext cx="2651760" cy="7315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9" name="Text 17"/>
          <p:cNvSpPr/>
          <p:nvPr/>
        </p:nvSpPr>
        <p:spPr>
          <a:xfrm>
            <a:off x="3429000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Ordered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42900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&lt;ol&gt;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29000" y="2194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list. Order matters.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83280" y="2560320"/>
            <a:ext cx="2377440" cy="141732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3" name="Shape 21"/>
          <p:cNvSpPr/>
          <p:nvPr/>
        </p:nvSpPr>
        <p:spPr>
          <a:xfrm>
            <a:off x="3493008" y="267919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4" name="Shape 22"/>
          <p:cNvSpPr/>
          <p:nvPr/>
        </p:nvSpPr>
        <p:spPr>
          <a:xfrm>
            <a:off x="3657600" y="267919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5" name="Shape 23"/>
          <p:cNvSpPr/>
          <p:nvPr/>
        </p:nvSpPr>
        <p:spPr>
          <a:xfrm>
            <a:off x="3822192" y="267919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6" name="Text 24"/>
          <p:cNvSpPr/>
          <p:nvPr/>
        </p:nvSpPr>
        <p:spPr>
          <a:xfrm>
            <a:off x="3611880" y="297180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Boil water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tea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29000" y="40233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AS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429000" y="4251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Boil water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Add tea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35040" y="1417320"/>
            <a:ext cx="265176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35040" y="1417320"/>
            <a:ext cx="2651760" cy="7315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0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Description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21792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&lt;dl&gt;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17920" y="2194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+ definition pairs.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72200" y="2560320"/>
            <a:ext cx="2377440" cy="141732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5" name="Shape 33"/>
          <p:cNvSpPr/>
          <p:nvPr/>
        </p:nvSpPr>
        <p:spPr>
          <a:xfrm>
            <a:off x="6281928" y="267919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36" name="Shape 34"/>
          <p:cNvSpPr/>
          <p:nvPr/>
        </p:nvSpPr>
        <p:spPr>
          <a:xfrm>
            <a:off x="6446520" y="267919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37" name="Shape 35"/>
          <p:cNvSpPr/>
          <p:nvPr/>
        </p:nvSpPr>
        <p:spPr>
          <a:xfrm>
            <a:off x="6611112" y="267919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0" y="297180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dl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dd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Markup lang.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dd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dl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17920" y="40233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AS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217920" y="4251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Markup lang.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HTML Forms + CSS Foundations · Phase 1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+ COLUMNS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Tables — For Tabular Data Only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572000" cy="32004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53619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53619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153619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828800"/>
            <a:ext cx="4114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thead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thead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tbody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td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Anu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td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td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Designer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td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tbody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03520" y="1417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&lt;table&gt;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0" y="1417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the whole table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303520" y="1737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&lt;thead&gt;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0" y="1737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rows (the labels)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303520" y="2057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&lt;tbody&gt;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0" y="2057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rows (the data)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303520" y="2377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&lt;tr&gt;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0" y="2377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row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303520" y="2697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&lt;th&gt;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0" y="2697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cell (bold)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303520" y="3017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&lt;td&gt;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0" y="3017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cell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303520" y="33832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AS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303520" y="3657600"/>
            <a:ext cx="3383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03520" y="3657600"/>
            <a:ext cx="3383280" cy="2743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5" name="Text 23"/>
          <p:cNvSpPr/>
          <p:nvPr/>
        </p:nvSpPr>
        <p:spPr>
          <a:xfrm>
            <a:off x="5440680" y="3657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Name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95160" y="3657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Role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40680" y="3977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Anu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95160" y="3977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Designer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HTML Forms + CSS Foundations · Phase 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USERS SEND DATA BACK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Forms + Input Types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&lt;form&gt;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wraps inputs together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&lt;label&gt;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text label for an input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&lt;input&gt;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field itself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&lt;button&gt;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submits the form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46320" y="1417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TYPES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1737360"/>
            <a:ext cx="914400" cy="292608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7373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806440" y="173736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Names, titles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812280" y="1737360"/>
            <a:ext cx="914400" cy="292608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812280" y="17373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0" y="173736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addresses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846320" y="2103120"/>
            <a:ext cx="914400" cy="292608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21031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806440" y="210312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chars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812280" y="2103120"/>
            <a:ext cx="914400" cy="292608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812280" y="21031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0" y="210312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only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46320" y="2468880"/>
            <a:ext cx="914400" cy="292608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4688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806440" y="246888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picker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812280" y="2468880"/>
            <a:ext cx="914400" cy="292608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6812280" y="24688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checkbox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72400" y="246888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Multi-select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46320" y="2834640"/>
            <a:ext cx="914400" cy="292608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28346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radio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806440" y="283464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One-of-many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812280" y="2834640"/>
            <a:ext cx="914400" cy="292608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6812280" y="28346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772400" y="283464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files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3246120"/>
            <a:ext cx="8229600" cy="13716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3" name="Shape 31"/>
          <p:cNvSpPr/>
          <p:nvPr/>
        </p:nvSpPr>
        <p:spPr>
          <a:xfrm>
            <a:off x="566928" y="336499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34" name="Shape 32"/>
          <p:cNvSpPr/>
          <p:nvPr/>
        </p:nvSpPr>
        <p:spPr>
          <a:xfrm>
            <a:off x="731520" y="336499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35" name="Shape 33"/>
          <p:cNvSpPr/>
          <p:nvPr/>
        </p:nvSpPr>
        <p:spPr>
          <a:xfrm>
            <a:off x="896112" y="336499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" y="36576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"email"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"email"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"email"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"submit"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 Up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HTML Forms + CSS Foundations · Phase 1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ALL TOGETHER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Complete Signup Form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754880" cy="32004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53619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53619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153619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828800"/>
            <a:ext cx="42976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"text"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placeholder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"Your name"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Birthday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"date"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"checkbox"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Accept terms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 Up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0" y="1417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FORM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0" y="1737360"/>
            <a:ext cx="320040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0" y="19202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Name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0" y="2148840"/>
            <a:ext cx="283464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0" y="2148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Your name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69280" y="26060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Birthday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69280" y="2834640"/>
            <a:ext cx="283464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0" y="2834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dd / mm / yyyy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9280" y="3337560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0" y="3291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</a:rPr>
              <a:t>Accept terms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0" y="3794760"/>
            <a:ext cx="1280160" cy="411480"/>
          </a:xfrm>
          <a:prstGeom prst="roundRect">
            <a:avLst>
              <a:gd name="adj" fmla="val 11111"/>
            </a:avLst>
          </a:prstGeom>
          <a:solidFill>
            <a:srgbClr val="E63946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0" y="37947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HTML Forms + CSS Foundations · Phase 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457200"/>
            <a:ext cx="4754880" cy="4754880"/>
          </a:xfrm>
          <a:prstGeom prst="ellipse">
            <a:avLst/>
          </a:prstGeom>
          <a:solidFill>
            <a:srgbClr val="151B47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0" y="1188720"/>
            <a:ext cx="2377440" cy="237744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6492240" y="118872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64592" cy="16459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8412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CSS Foundations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says what the content IS. CSS says how it LOOKS. Selectors, properties, the box model — once these click, you can style anything.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WAYS TO STYLE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CSS — and How to Add It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 Style Sheets. Targets HTML elements and tells them how to look.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26517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920240"/>
            <a:ext cx="2651760" cy="7315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103120"/>
            <a:ext cx="1280160" cy="274320"/>
          </a:xfrm>
          <a:prstGeom prst="roundRect">
            <a:avLst>
              <a:gd name="adj" fmla="val 13333"/>
            </a:avLst>
          </a:prstGeom>
          <a:solidFill>
            <a:srgbClr val="E6394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103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Inline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2743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attribute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971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single tag. Hard to maintain.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3474720"/>
            <a:ext cx="2377440" cy="10972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4" name="Shape 12"/>
          <p:cNvSpPr/>
          <p:nvPr/>
        </p:nvSpPr>
        <p:spPr>
          <a:xfrm>
            <a:off x="704088" y="359359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359359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6" name="Shape 14"/>
          <p:cNvSpPr/>
          <p:nvPr/>
        </p:nvSpPr>
        <p:spPr>
          <a:xfrm>
            <a:off x="1033272" y="359359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8862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"color:red"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46120" y="1920240"/>
            <a:ext cx="26517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46120" y="1920240"/>
            <a:ext cx="2651760" cy="731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0" name="Shape 18"/>
          <p:cNvSpPr/>
          <p:nvPr/>
        </p:nvSpPr>
        <p:spPr>
          <a:xfrm>
            <a:off x="3429000" y="2103120"/>
            <a:ext cx="1280160" cy="274320"/>
          </a:xfrm>
          <a:prstGeom prst="roundRect">
            <a:avLst>
              <a:gd name="adj" fmla="val 13333"/>
            </a:avLst>
          </a:prstGeom>
          <a:solidFill>
            <a:srgbClr val="F4A261"/>
          </a:solidFill>
          <a:ln/>
        </p:spPr>
      </p:sp>
      <p:sp>
        <p:nvSpPr>
          <p:cNvPr id="21" name="Text 19"/>
          <p:cNvSpPr/>
          <p:nvPr/>
        </p:nvSpPr>
        <p:spPr>
          <a:xfrm>
            <a:off x="3429000" y="2103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for tiny pages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29000" y="2423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Internal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429000" y="2743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&lt;style&gt; in head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29000" y="2971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 the same HTML file.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383280" y="3474720"/>
            <a:ext cx="2377440" cy="10972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6" name="Shape 24"/>
          <p:cNvSpPr/>
          <p:nvPr/>
        </p:nvSpPr>
        <p:spPr>
          <a:xfrm>
            <a:off x="3493008" y="359359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7" name="Shape 25"/>
          <p:cNvSpPr/>
          <p:nvPr/>
        </p:nvSpPr>
        <p:spPr>
          <a:xfrm>
            <a:off x="3657600" y="359359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8" name="Shape 26"/>
          <p:cNvSpPr/>
          <p:nvPr/>
        </p:nvSpPr>
        <p:spPr>
          <a:xfrm>
            <a:off x="3822192" y="359359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9" name="Text 27"/>
          <p:cNvSpPr/>
          <p:nvPr/>
        </p:nvSpPr>
        <p:spPr>
          <a:xfrm>
            <a:off x="3611880" y="38862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 { 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1920240"/>
            <a:ext cx="26517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35040" y="1920240"/>
            <a:ext cx="2651760" cy="7315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2" name="Shape 30"/>
          <p:cNvSpPr/>
          <p:nvPr/>
        </p:nvSpPr>
        <p:spPr>
          <a:xfrm>
            <a:off x="6217920" y="2103120"/>
            <a:ext cx="1280160" cy="274320"/>
          </a:xfrm>
          <a:prstGeom prst="roundRect">
            <a:avLst>
              <a:gd name="adj" fmla="val 13333"/>
            </a:avLst>
          </a:prstGeom>
          <a:solidFill>
            <a:srgbClr val="2A9D8F"/>
          </a:solidFill>
          <a:ln/>
        </p:spPr>
      </p:sp>
      <p:sp>
        <p:nvSpPr>
          <p:cNvPr id="33" name="Text 31"/>
          <p:cNvSpPr/>
          <p:nvPr/>
        </p:nvSpPr>
        <p:spPr>
          <a:xfrm>
            <a:off x="6217920" y="2103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17920" y="2423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External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217920" y="2743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.css file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17920" y="2971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file. What we'll use.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172200" y="3474720"/>
            <a:ext cx="2377440" cy="10972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8" name="Shape 36"/>
          <p:cNvSpPr/>
          <p:nvPr/>
        </p:nvSpPr>
        <p:spPr>
          <a:xfrm>
            <a:off x="6281928" y="359359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39" name="Shape 37"/>
          <p:cNvSpPr/>
          <p:nvPr/>
        </p:nvSpPr>
        <p:spPr>
          <a:xfrm>
            <a:off x="6446520" y="359359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40" name="Shape 38"/>
          <p:cNvSpPr/>
          <p:nvPr/>
        </p:nvSpPr>
        <p:spPr>
          <a:xfrm>
            <a:off x="6611112" y="359359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0" y="38862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in head: --&gt;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"stylesheet"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9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href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"style.css"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HTML Forms + CSS Foundations · Phase 1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WHAT TO STYLE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CSS Selectors — Targeting Elements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RULE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85623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85623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9" name="Shape 7"/>
          <p:cNvSpPr/>
          <p:nvPr/>
        </p:nvSpPr>
        <p:spPr>
          <a:xfrm>
            <a:off x="896112" y="185623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1488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pPr indent="0" marL="0">
              <a:buNone/>
            </a:pPr>
            <a:r>
              <a:rPr lang="en-US" sz="16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60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tomato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buNone/>
            </a:pPr>
            <a:r>
              <a:rPr lang="en-US" sz="16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font-size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60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32px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40233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788920"/>
            <a:ext cx="73152" cy="86868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880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154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elements of a tag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3383280"/>
            <a:ext cx="3657600" cy="2286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383280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{ color: gray; }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2788920"/>
            <a:ext cx="40233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788920"/>
            <a:ext cx="73152" cy="86868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2880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.class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46320" y="3154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with class="..."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3383280"/>
            <a:ext cx="3657600" cy="2286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3383280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.btn { padding: 10px; }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3749040"/>
            <a:ext cx="40233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749040"/>
            <a:ext cx="73152" cy="868680"/>
          </a:xfrm>
          <a:prstGeom prst="rect">
            <a:avLst/>
          </a:prstGeom>
          <a:solidFill>
            <a:srgbClr val="06AED5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840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AE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" y="4114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element with id="..."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" y="4343400"/>
            <a:ext cx="3657600" cy="2286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4343400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#hero { height: 400px; }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3749040"/>
            <a:ext cx="40233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3749040"/>
            <a:ext cx="73152" cy="868680"/>
          </a:xfrm>
          <a:prstGeom prst="rect">
            <a:avLst/>
          </a:prstGeom>
          <a:solidFill>
            <a:srgbClr val="8338EC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3840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33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a:hover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846320" y="4114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state (hover, focus, etc.)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4343400"/>
            <a:ext cx="3657600" cy="2286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4" name="Text 32"/>
          <p:cNvSpPr/>
          <p:nvPr/>
        </p:nvSpPr>
        <p:spPr>
          <a:xfrm>
            <a:off x="4892040" y="4343400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a:hover { color: red; }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HTML Forms + CSS Foundations · Phase 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· BORDER · PADDING · CONTENT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Box Model — Every Element is a Box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3840480" cy="30175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459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280160" y="2011680"/>
            <a:ext cx="2743200" cy="2103120"/>
          </a:xfrm>
          <a:prstGeom prst="rect">
            <a:avLst/>
          </a:prstGeom>
          <a:solidFill>
            <a:srgbClr val="FEF3C7"/>
          </a:solidFill>
          <a:ln w="381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21031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508760" y="2331720"/>
            <a:ext cx="2286000" cy="146304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0" name="Text 8"/>
          <p:cNvSpPr/>
          <p:nvPr/>
        </p:nvSpPr>
        <p:spPr>
          <a:xfrm>
            <a:off x="1600200" y="24231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28800" y="2651760"/>
            <a:ext cx="1645920" cy="82296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2" name="Text 10"/>
          <p:cNvSpPr/>
          <p:nvPr/>
        </p:nvSpPr>
        <p:spPr>
          <a:xfrm>
            <a:off x="1828800" y="2880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6AED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0" y="1645920"/>
            <a:ext cx="228600" cy="228600"/>
          </a:xfrm>
          <a:prstGeom prst="ellipse">
            <a:avLst/>
          </a:prstGeom>
          <a:solidFill>
            <a:srgbClr val="06AED5"/>
          </a:solidFill>
          <a:ln/>
        </p:spPr>
      </p:sp>
      <p:sp>
        <p:nvSpPr>
          <p:cNvPr id="14" name="Text 12"/>
          <p:cNvSpPr/>
          <p:nvPr/>
        </p:nvSpPr>
        <p:spPr>
          <a:xfrm>
            <a:off x="5349240" y="15544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49240" y="184708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text or image itself.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0" y="2423160"/>
            <a:ext cx="228600" cy="2286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7" name="Text 15"/>
          <p:cNvSpPr/>
          <p:nvPr/>
        </p:nvSpPr>
        <p:spPr>
          <a:xfrm>
            <a:off x="5349240" y="23317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Padding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49240" y="262432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INSIDE the border. Breathing room around content.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0" y="3200400"/>
            <a:ext cx="228600" cy="2286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0" name="Text 18"/>
          <p:cNvSpPr/>
          <p:nvPr/>
        </p:nvSpPr>
        <p:spPr>
          <a:xfrm>
            <a:off x="5349240" y="31089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Border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49240" y="340156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line around the padding.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0" y="3977640"/>
            <a:ext cx="228600" cy="2286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3" name="Text 21"/>
          <p:cNvSpPr/>
          <p:nvPr/>
        </p:nvSpPr>
        <p:spPr>
          <a:xfrm>
            <a:off x="5349240" y="38862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Margin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49240" y="417880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OUTSIDE. Pushes other elements away.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HTML Forms + CSS Foundations · Phase 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VISUAL ESSENTIALS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Colors, Units + Typography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FORMATS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274320" cy="274320"/>
          </a:xfrm>
          <a:prstGeom prst="rect">
            <a:avLst/>
          </a:prstGeom>
          <a:solidFill>
            <a:srgbClr val="FF634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737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91640" y="1737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tomato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274320" cy="274320"/>
          </a:xfrm>
          <a:prstGeom prst="rect">
            <a:avLst/>
          </a:prstGeom>
          <a:solidFill>
            <a:srgbClr val="FF6347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1488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91640" y="2148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#FF6347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274320" cy="274320"/>
          </a:xfrm>
          <a:prstGeom prst="rect">
            <a:avLst/>
          </a:prstGeom>
          <a:solidFill>
            <a:srgbClr val="FF6347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5603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rgb()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91640" y="2560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rgb(255,99,71)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274320" cy="274320"/>
          </a:xfrm>
          <a:prstGeom prst="rect">
            <a:avLst/>
          </a:prstGeom>
          <a:solidFill>
            <a:srgbClr val="FF6347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971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rgba()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691640" y="2971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rgba(255,99,71,0.5)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1417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UNITS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1737360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1737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px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69280" y="17373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Absolute. 1px = 1 screen dot.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2148840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21488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69280" y="2148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to parent element.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2560320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2560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669280" y="2560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to root font-size.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2971800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4846320" y="2971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vh / vw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669280" y="2971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viewport height/width.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3520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 PROPERTIES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3840480"/>
            <a:ext cx="8229600" cy="7772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3" name="Shape 31"/>
          <p:cNvSpPr/>
          <p:nvPr/>
        </p:nvSpPr>
        <p:spPr>
          <a:xfrm>
            <a:off x="566928" y="395935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34" name="Shape 32"/>
          <p:cNvSpPr/>
          <p:nvPr/>
        </p:nvSpPr>
        <p:spPr>
          <a:xfrm>
            <a:off x="731520" y="395935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35" name="Shape 33"/>
          <p:cNvSpPr/>
          <p:nvPr/>
        </p:nvSpPr>
        <p:spPr>
          <a:xfrm>
            <a:off x="896112" y="395935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" y="42519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font-family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Arial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font-size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32px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font-weight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700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line-height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1.4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HTML Forms + CSS Foundations · Phase 1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457200"/>
            <a:ext cx="4754880" cy="4754880"/>
          </a:xfrm>
          <a:prstGeom prst="ellipse">
            <a:avLst/>
          </a:prstGeom>
          <a:solidFill>
            <a:srgbClr val="151B47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0" y="1188720"/>
            <a:ext cx="2377440" cy="2377440"/>
          </a:xfrm>
          <a:prstGeom prst="ellipse">
            <a:avLst/>
          </a:prstGeom>
          <a:solidFill>
            <a:srgbClr val="06AED5"/>
          </a:solidFill>
          <a:ln/>
        </p:spPr>
      </p:sp>
      <p:sp>
        <p:nvSpPr>
          <p:cNvPr id="4" name="Text 2"/>
          <p:cNvSpPr/>
          <p:nvPr/>
        </p:nvSpPr>
        <p:spPr>
          <a:xfrm>
            <a:off x="6492240" y="118872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64592" cy="164592"/>
          </a:xfrm>
          <a:prstGeom prst="ellipse">
            <a:avLst/>
          </a:prstGeom>
          <a:solidFill>
            <a:srgbClr val="06AED5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8412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6A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Layout — Position, Flexbox, Grid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three tools handle 95% of all webpage layouts. Position for individual placement, Flexbox for rows and columns, Grid for full 2D layouts.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06AED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A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ELEMENT SITS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CSS Position — 5 Behaviors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6B728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63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011680" y="146304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Default. In normal flow.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E63946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057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relative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011680" y="205740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flow + offset by top/left.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F4A261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651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absolute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011680" y="265176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flow. Positioned to nearest positioned parent.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24612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2A9D8F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246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011680" y="324612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flow. Pinned to viewport. Stays on scroll.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84048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8338EC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8404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sticky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011680" y="384048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flow until scroll, then pins.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HTML Forms + CSS Foundations · Phase 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23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06AED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A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DISPLAY: FLEX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Flexbox — 1D Layout (rows or columns)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6A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 CONTAINER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4114800" cy="1371600"/>
          </a:xfrm>
          <a:prstGeom prst="rect">
            <a:avLst/>
          </a:prstGeom>
          <a:solidFill>
            <a:srgbClr val="CADCFC">
              <a:alpha val="50000"/>
            </a:srgbClr>
          </a:solidFill>
          <a:ln w="25400">
            <a:solidFill>
              <a:srgbClr val="06AED5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31520" y="2011680"/>
            <a:ext cx="914400" cy="822960"/>
          </a:xfrm>
          <a:prstGeom prst="roundRect">
            <a:avLst>
              <a:gd name="adj" fmla="val 5556"/>
            </a:avLst>
          </a:prstGeom>
          <a:solidFill>
            <a:srgbClr val="06AED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0116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920240" y="2011680"/>
            <a:ext cx="914400" cy="822960"/>
          </a:xfrm>
          <a:prstGeom prst="roundRect">
            <a:avLst>
              <a:gd name="adj" fmla="val 5556"/>
            </a:avLst>
          </a:prstGeom>
          <a:solidFill>
            <a:srgbClr val="06AED5"/>
          </a:solidFill>
          <a:ln/>
        </p:spPr>
      </p:sp>
      <p:sp>
        <p:nvSpPr>
          <p:cNvPr id="10" name="Text 8"/>
          <p:cNvSpPr/>
          <p:nvPr/>
        </p:nvSpPr>
        <p:spPr>
          <a:xfrm>
            <a:off x="1920240" y="20116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108960" y="2011680"/>
            <a:ext cx="914400" cy="822960"/>
          </a:xfrm>
          <a:prstGeom prst="roundRect">
            <a:avLst>
              <a:gd name="adj" fmla="val 5556"/>
            </a:avLst>
          </a:prstGeom>
          <a:solidFill>
            <a:srgbClr val="06AED5"/>
          </a:solidFill>
          <a:ln/>
        </p:spPr>
      </p:sp>
      <p:sp>
        <p:nvSpPr>
          <p:cNvPr id="12" name="Text 10"/>
          <p:cNvSpPr/>
          <p:nvPr/>
        </p:nvSpPr>
        <p:spPr>
          <a:xfrm>
            <a:off x="3108960" y="20116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7200" y="32004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06A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main axis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1417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6A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PROPERTIES (on container)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17373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display: flex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766560" y="17373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parent into a flex container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20848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flex-direction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766560" y="20848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(default) or column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243230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justify-content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766560" y="24323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along main axis (h)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277977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align-items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66560" y="27797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along cross axis (v)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31272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766560" y="31272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between flex items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611880"/>
            <a:ext cx="8229600" cy="1005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6" name="Shape 24"/>
          <p:cNvSpPr/>
          <p:nvPr/>
        </p:nvSpPr>
        <p:spPr>
          <a:xfrm>
            <a:off x="566928" y="373075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7" name="Shape 25"/>
          <p:cNvSpPr/>
          <p:nvPr/>
        </p:nvSpPr>
        <p:spPr>
          <a:xfrm>
            <a:off x="731520" y="373075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8" name="Shape 26"/>
          <p:cNvSpPr/>
          <p:nvPr/>
        </p:nvSpPr>
        <p:spPr>
          <a:xfrm>
            <a:off x="896112" y="373075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40233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.container { </a:t>
            </a:r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16px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justify-content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space-between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Items become a horizontal row, with equal space between them */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HTML Forms + CSS Foundations · Phase 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23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06AED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A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AND COLUMNS · DISPLAY: GRID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CSS Grid — 2D Layout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6A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CONTAINER (3 × 2)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4114800" cy="2194560"/>
          </a:xfrm>
          <a:prstGeom prst="rect">
            <a:avLst/>
          </a:prstGeom>
          <a:solidFill>
            <a:srgbClr val="CADCFC">
              <a:alpha val="50000"/>
            </a:srgbClr>
          </a:solidFill>
          <a:ln w="25400">
            <a:solidFill>
              <a:srgbClr val="06AED5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594360" y="1874520"/>
            <a:ext cx="1188720" cy="868680"/>
          </a:xfrm>
          <a:prstGeom prst="roundRect">
            <a:avLst>
              <a:gd name="adj" fmla="val 5263"/>
            </a:avLst>
          </a:prstGeom>
          <a:solidFill>
            <a:srgbClr val="06AED5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87452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892808" y="1874520"/>
            <a:ext cx="1188720" cy="868680"/>
          </a:xfrm>
          <a:prstGeom prst="roundRect">
            <a:avLst>
              <a:gd name="adj" fmla="val 5263"/>
            </a:avLst>
          </a:prstGeom>
          <a:solidFill>
            <a:srgbClr val="06AED5"/>
          </a:solidFill>
          <a:ln/>
        </p:spPr>
      </p:sp>
      <p:sp>
        <p:nvSpPr>
          <p:cNvPr id="10" name="Text 8"/>
          <p:cNvSpPr/>
          <p:nvPr/>
        </p:nvSpPr>
        <p:spPr>
          <a:xfrm>
            <a:off x="1892808" y="187452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191256" y="1874520"/>
            <a:ext cx="1188720" cy="868680"/>
          </a:xfrm>
          <a:prstGeom prst="roundRect">
            <a:avLst>
              <a:gd name="adj" fmla="val 5263"/>
            </a:avLst>
          </a:prstGeom>
          <a:solidFill>
            <a:srgbClr val="06AED5"/>
          </a:solidFill>
          <a:ln/>
        </p:spPr>
      </p:sp>
      <p:sp>
        <p:nvSpPr>
          <p:cNvPr id="12" name="Text 10"/>
          <p:cNvSpPr/>
          <p:nvPr/>
        </p:nvSpPr>
        <p:spPr>
          <a:xfrm>
            <a:off x="3191256" y="187452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94360" y="2852928"/>
            <a:ext cx="1188720" cy="868680"/>
          </a:xfrm>
          <a:prstGeom prst="roundRect">
            <a:avLst>
              <a:gd name="adj" fmla="val 5263"/>
            </a:avLst>
          </a:prstGeom>
          <a:solidFill>
            <a:srgbClr val="06AED5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852928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1892808" y="2852928"/>
            <a:ext cx="1188720" cy="868680"/>
          </a:xfrm>
          <a:prstGeom prst="roundRect">
            <a:avLst>
              <a:gd name="adj" fmla="val 5263"/>
            </a:avLst>
          </a:prstGeom>
          <a:solidFill>
            <a:srgbClr val="06AED5"/>
          </a:solidFill>
          <a:ln/>
        </p:spPr>
      </p:sp>
      <p:sp>
        <p:nvSpPr>
          <p:cNvPr id="16" name="Text 14"/>
          <p:cNvSpPr/>
          <p:nvPr/>
        </p:nvSpPr>
        <p:spPr>
          <a:xfrm>
            <a:off x="1892808" y="2852928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3191256" y="2852928"/>
            <a:ext cx="1188720" cy="868680"/>
          </a:xfrm>
          <a:prstGeom prst="roundRect">
            <a:avLst>
              <a:gd name="adj" fmla="val 5263"/>
            </a:avLst>
          </a:prstGeom>
          <a:solidFill>
            <a:srgbClr val="06AED5"/>
          </a:solidFill>
          <a:ln/>
        </p:spPr>
      </p:sp>
      <p:sp>
        <p:nvSpPr>
          <p:cNvPr id="18" name="Text 16"/>
          <p:cNvSpPr/>
          <p:nvPr/>
        </p:nvSpPr>
        <p:spPr>
          <a:xfrm>
            <a:off x="3191256" y="2852928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846320" y="1417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6A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PROPERTIES (on container)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display: grid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32320" y="1737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parent into a grid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grid-template-columns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32320" y="2148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Sizes of each column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2560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grid-template-rows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32320" y="2560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Sizes of each row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2971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132320" y="2971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between cells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0" y="3383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 unit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132320" y="3383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of free space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1" name="Shape 29"/>
          <p:cNvSpPr/>
          <p:nvPr/>
        </p:nvSpPr>
        <p:spPr>
          <a:xfrm>
            <a:off x="566928" y="414223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32" name="Shape 30"/>
          <p:cNvSpPr/>
          <p:nvPr/>
        </p:nvSpPr>
        <p:spPr>
          <a:xfrm>
            <a:off x="731520" y="414223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33" name="Shape 31"/>
          <p:cNvSpPr/>
          <p:nvPr/>
        </p:nvSpPr>
        <p:spPr>
          <a:xfrm>
            <a:off x="896112" y="414223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" y="4434840"/>
            <a:ext cx="7772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.container { </a:t>
            </a:r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grid-template-columns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1fr 1fr 1fr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16px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HTML Forms + CSS Foundations · Phase 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23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457200"/>
            <a:ext cx="4754880" cy="4754880"/>
          </a:xfrm>
          <a:prstGeom prst="ellipse">
            <a:avLst/>
          </a:prstGeom>
          <a:solidFill>
            <a:srgbClr val="151B47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0" y="1188720"/>
            <a:ext cx="2377440" cy="2377440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4" name="Text 2"/>
          <p:cNvSpPr/>
          <p:nvPr/>
        </p:nvSpPr>
        <p:spPr>
          <a:xfrm>
            <a:off x="6492240" y="118872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64592" cy="164592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8412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Profile Card — Design to Code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finished design and rebuild it from scratch. This is what real frontend work looks like: read a mockup, write the HTML, style with CSS.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CARD — V1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Design We're Building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371600" y="1417320"/>
            <a:ext cx="27432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331720" y="1691640"/>
            <a:ext cx="822960" cy="822960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7" name="Text 5"/>
          <p:cNvSpPr/>
          <p:nvPr/>
        </p:nvSpPr>
        <p:spPr>
          <a:xfrm>
            <a:off x="2331720" y="1691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54480" y="2606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Anu Balaji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28803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· Founder @ Studio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600200" y="3200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 interfaces that don't make people angry. Currently building tools for makers.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691640" y="3749040"/>
            <a:ext cx="640080" cy="274320"/>
          </a:xfrm>
          <a:prstGeom prst="roundRect">
            <a:avLst>
              <a:gd name="adj" fmla="val 13333"/>
            </a:avLst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1691640" y="37490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404872" y="3749040"/>
            <a:ext cx="640080" cy="274320"/>
          </a:xfrm>
          <a:prstGeom prst="roundRect">
            <a:avLst>
              <a:gd name="adj" fmla="val 13333"/>
            </a:avLst>
          </a:prstGeom>
          <a:solidFill>
            <a:srgbClr val="CADCFC"/>
          </a:solidFill>
          <a:ln/>
        </p:spPr>
      </p:sp>
      <p:sp>
        <p:nvSpPr>
          <p:cNvPr id="14" name="Text 12"/>
          <p:cNvSpPr/>
          <p:nvPr/>
        </p:nvSpPr>
        <p:spPr>
          <a:xfrm>
            <a:off x="2404872" y="37490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118104" y="3749040"/>
            <a:ext cx="640080" cy="274320"/>
          </a:xfrm>
          <a:prstGeom prst="roundRect">
            <a:avLst>
              <a:gd name="adj" fmla="val 13333"/>
            </a:avLst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3118104" y="37490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600200" y="4160520"/>
            <a:ext cx="1143000" cy="320040"/>
          </a:xfrm>
          <a:prstGeom prst="roundRect">
            <a:avLst>
              <a:gd name="adj" fmla="val 11429"/>
            </a:avLst>
          </a:prstGeom>
          <a:solidFill>
            <a:srgbClr val="8338EC"/>
          </a:solidFill>
          <a:ln/>
        </p:spPr>
      </p:sp>
      <p:sp>
        <p:nvSpPr>
          <p:cNvPr id="18" name="Text 16"/>
          <p:cNvSpPr/>
          <p:nvPr/>
        </p:nvSpPr>
        <p:spPr>
          <a:xfrm>
            <a:off x="1600200" y="416052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88920" y="4160520"/>
            <a:ext cx="109728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8338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88920" y="4160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INSIDE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0" y="1810512"/>
            <a:ext cx="228600" cy="228600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23" name="Text 21"/>
          <p:cNvSpPr/>
          <p:nvPr/>
        </p:nvSpPr>
        <p:spPr>
          <a:xfrm>
            <a:off x="5349240" y="1737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Card container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78040" y="17373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&lt;article&gt;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349240" y="19659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bg + shadow + rounded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029200" y="2286000"/>
            <a:ext cx="228600" cy="228600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27" name="Text 25"/>
          <p:cNvSpPr/>
          <p:nvPr/>
        </p:nvSpPr>
        <p:spPr>
          <a:xfrm>
            <a:off x="5349240" y="22128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Avatar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178040" y="221284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&lt;div&gt; or &lt;img&gt;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49240" y="244144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circle, centered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0" y="2761488"/>
            <a:ext cx="228600" cy="228600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31" name="Text 29"/>
          <p:cNvSpPr/>
          <p:nvPr/>
        </p:nvSpPr>
        <p:spPr>
          <a:xfrm>
            <a:off x="5349240" y="268833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 + role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178040" y="268833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&lt;h2&gt; + &lt;p&gt;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49240" y="291693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centered text stack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029200" y="3236976"/>
            <a:ext cx="228600" cy="228600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35" name="Text 33"/>
          <p:cNvSpPr/>
          <p:nvPr/>
        </p:nvSpPr>
        <p:spPr>
          <a:xfrm>
            <a:off x="5349240" y="316382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178040" y="316382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349240" y="339242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paragraph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029200" y="3712464"/>
            <a:ext cx="228600" cy="228600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39" name="Text 37"/>
          <p:cNvSpPr/>
          <p:nvPr/>
        </p:nvSpPr>
        <p:spPr>
          <a:xfrm>
            <a:off x="5349240" y="36393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 row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178040" y="363931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&lt;ul&gt; with pills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349240" y="386791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row, gap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029200" y="4187952"/>
            <a:ext cx="228600" cy="228600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43" name="Text 41"/>
          <p:cNvSpPr/>
          <p:nvPr/>
        </p:nvSpPr>
        <p:spPr>
          <a:xfrm>
            <a:off x="5349240" y="4114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 buttons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178040" y="41148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&lt;button&gt; × 2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349240" y="43434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+ outlined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HTML Forms + CSS Foundations · Phase 1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23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BEFORE STYLE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1 — Write the HTML First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bones. No CSS yet. Build the document from the outside in.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8229600" cy="28346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90195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90195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9" name="Shape 7"/>
          <p:cNvSpPr/>
          <p:nvPr/>
        </p:nvSpPr>
        <p:spPr>
          <a:xfrm>
            <a:off x="896112" y="190195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194560"/>
            <a:ext cx="7772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article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"card"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"avatar"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h2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Anu Balaji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h2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"role"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Designer · Founder @ Studio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"bio"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Designs interfaces that don't make people angry.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ul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"skills"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 &lt;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 &lt;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IoT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ul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"actions"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"primary"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Follow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"secondary"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article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HTML Forms + CSS Foundations · Phase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23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IN: CARD → AVATAR → SKILLS → BUTTONS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2 — Style with CSS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937760" cy="32004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53619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53619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153619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828800"/>
            <a:ext cx="4480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.card {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white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border-radius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12px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padding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24px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box-shadow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8px 24px rgba(0,0,0,.08)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text-align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center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.avatar {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width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80px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height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80px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border-radius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50%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#8338EC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white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margin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auto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.skills { 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8px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.skills li { 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#CADCFC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padding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4px 12px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669280" y="1417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ORDER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0" y="1737360"/>
            <a:ext cx="365760" cy="365760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26480" y="17373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Card container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26480" y="19385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Background, radius, padding, shadow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69280" y="2304288"/>
            <a:ext cx="365760" cy="365760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0" y="2304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26480" y="230428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Avatar circle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0" y="25054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 = height, 50% radius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69280" y="2871216"/>
            <a:ext cx="365760" cy="365760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0" y="2871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26480" y="287121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Text styles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26480" y="307238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Center, size hierarchy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669280" y="3438144"/>
            <a:ext cx="365760" cy="365760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0" y="3438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126480" y="343814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 pills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26480" y="363931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 row, small padding, radius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669280" y="4005072"/>
            <a:ext cx="365760" cy="365760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0" y="4005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126480" y="40050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Buttons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26480" y="42062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variants: filled + outlined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HTML Forms + CSS Foundations · Phase 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23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DAY-2 GOTCHAS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 Your Card Looks Wrong — Check These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45920"/>
            <a:ext cx="411480" cy="41148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Card not centered on page?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19659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body { display: flex; justify-content: center; } — flex centers the card horizontally.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645920"/>
            <a:ext cx="411480" cy="41148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9496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 pills stacked vertically?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94960" y="19659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forgot display: flex on the parent ul. By default li's stack.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154680"/>
            <a:ext cx="411480" cy="41148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3108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Avatar not a circle?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88720" y="34747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 must equal height. Then border-radius: 50% rounds it.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297180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3154680"/>
            <a:ext cx="411480" cy="41148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94960" y="3108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Shadow looks harsh?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94960" y="34747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rgba with low opacity: 0 8px 24px rgba(0,0,0,0.08). Big blur, low alpha.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HTML Forms + CSS Foundations · Phase 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23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2286000"/>
            <a:ext cx="4572000" cy="4572000"/>
          </a:xfrm>
          <a:prstGeom prst="ellipse">
            <a:avLst/>
          </a:prstGeom>
          <a:solidFill>
            <a:srgbClr val="151B47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E63946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182880" cy="182880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38404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UP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 — Done.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3931920" cy="2377440"/>
          </a:xfrm>
          <a:prstGeom prst="rect">
            <a:avLst/>
          </a:prstGeom>
          <a:solidFill>
            <a:srgbClr val="151B47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828800"/>
            <a:ext cx="73152" cy="237744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965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2286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YOUR own profile card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2788920"/>
            <a:ext cx="3566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</a:t>
            </a:r>
            <a:pPr indent="0" marL="0">
              <a:spcAft>
                <a:spcPts val="400"/>
              </a:spcAft>
              <a:buNone/>
            </a:pPr>
            <a:r>
              <a:rPr lang="en-US" sz="1150" b="1" i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name, role, bio, and skills.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different color palette than mine.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a new repo: </a:t>
            </a:r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day2-card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link in the group chat.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54880" y="1828800"/>
            <a:ext cx="3931920" cy="2377440"/>
          </a:xfrm>
          <a:prstGeom prst="rect">
            <a:avLst/>
          </a:prstGeom>
          <a:solidFill>
            <a:srgbClr val="151B47"/>
          </a:solidFill>
          <a:ln/>
        </p:spPr>
      </p:sp>
      <p:sp>
        <p:nvSpPr>
          <p:cNvPr id="13" name="Shape 11"/>
          <p:cNvSpPr/>
          <p:nvPr/>
        </p:nvSpPr>
        <p:spPr>
          <a:xfrm>
            <a:off x="4754880" y="1828800"/>
            <a:ext cx="73152" cy="237744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1965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— DAY 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83480" y="2286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Responsive Design + Mini Project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83480" y="2788920"/>
            <a:ext cx="3566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queries + breakpoints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thinking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full responsive landing page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Netlify or GitHub Pages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Ask now — or in the group chat tonight.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 — HTML Forms + CSS Foundations</dc:title>
  <dc:subject>PptxGenJS Presentation</dc:subject>
  <dc:creator>Incrix Techlutions</dc:creator>
  <cp:lastModifiedBy>Incrix Techlutions</cp:lastModifiedBy>
  <cp:revision>1</cp:revision>
  <dcterms:created xsi:type="dcterms:W3CDTF">2026-05-22T05:30:10Z</dcterms:created>
  <dcterms:modified xsi:type="dcterms:W3CDTF">2026-05-22T05:30:10Z</dcterms:modified>
</cp:coreProperties>
</file>